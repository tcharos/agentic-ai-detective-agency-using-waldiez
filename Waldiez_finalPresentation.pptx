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77" r:id="rId2"/>
    <p:sldId id="267" r:id="rId3"/>
    <p:sldId id="278" r:id="rId4"/>
    <p:sldId id="282" r:id="rId5"/>
    <p:sldId id="281" r:id="rId6"/>
    <p:sldId id="276" r:id="rId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32047E5-66FF-4ED5-B921-DC1BEB7A9EB5}">
          <p14:sldIdLst>
            <p14:sldId id="277"/>
            <p14:sldId id="267"/>
            <p14:sldId id="278"/>
            <p14:sldId id="282"/>
            <p14:sldId id="281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0" autoAdjust="0"/>
    <p:restoredTop sz="96684" autoAdjust="0"/>
  </p:normalViewPr>
  <p:slideViewPr>
    <p:cSldViewPr snapToGrid="0">
      <p:cViewPr varScale="1">
        <p:scale>
          <a:sx n="105" d="100"/>
          <a:sy n="105" d="100"/>
        </p:scale>
        <p:origin x="73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405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BC7C8E-6930-4EC6-0349-F4E1AD7318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MSc Artificial Intelligence &amp; Deep Learning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94F36B-F8D4-20C2-0AA4-0A980DEEAE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42606-CFC7-4350-BF7D-F79705CBB3DF}" type="datetimeFigureOut">
              <a:rPr lang="el-GR" smtClean="0"/>
              <a:t>25/2/2026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241F7-77E7-FBF1-D3F6-31151152B8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MSc Artificial Intelligence &amp; Deep Learning</a:t>
            </a:r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5B911-6782-34D2-79C2-1971B69248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228F3-D31F-40E4-8BF6-6669F66BD45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0688140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MSc Artificial Intelligence &amp; Deep Learning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D7115-7C26-4374-AB2C-A3EA9DC26E87}" type="datetimeFigureOut">
              <a:rPr lang="el-GR" smtClean="0"/>
              <a:t>25/2/2026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MSc Artificial Intelligence &amp; Deep Learning</a:t>
            </a:r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A513B-9453-4206-8508-2E27295AE2E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311942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8434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l-GR" sz="800" dirty="0"/>
          </a:p>
        </p:txBody>
      </p:sp>
    </p:spTree>
    <p:extLst>
      <p:ext uri="{BB962C8B-B14F-4D97-AF65-F5344CB8AC3E}">
        <p14:creationId xmlns:p14="http://schemas.microsoft.com/office/powerpoint/2010/main" val="4244008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l-GR" sz="800" dirty="0"/>
          </a:p>
        </p:txBody>
      </p:sp>
    </p:spTree>
    <p:extLst>
      <p:ext uri="{BB962C8B-B14F-4D97-AF65-F5344CB8AC3E}">
        <p14:creationId xmlns:p14="http://schemas.microsoft.com/office/powerpoint/2010/main" val="3389543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l-GR" sz="800" dirty="0"/>
          </a:p>
        </p:txBody>
      </p:sp>
    </p:spTree>
    <p:extLst>
      <p:ext uri="{BB962C8B-B14F-4D97-AF65-F5344CB8AC3E}">
        <p14:creationId xmlns:p14="http://schemas.microsoft.com/office/powerpoint/2010/main" val="2939053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l-GR" sz="800" dirty="0"/>
          </a:p>
        </p:txBody>
      </p:sp>
    </p:spTree>
    <p:extLst>
      <p:ext uri="{BB962C8B-B14F-4D97-AF65-F5344CB8AC3E}">
        <p14:creationId xmlns:p14="http://schemas.microsoft.com/office/powerpoint/2010/main" val="2598482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38832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0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5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24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8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4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6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4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7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September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MSc Artificial Intelligence &amp; Deep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7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l-GR"/>
              <a:t>September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MSc Artificial Intelligence &amp; Deep Learning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1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C46CC-3AA4-EEFD-DB8B-FE08BAA0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947" y="2580230"/>
            <a:ext cx="5174159" cy="129892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Thodoris Charos mscaidl-0077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AIDL_B_02 – Advanced Topics in Deep Learning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450AE-0E04-6DA8-5227-9D12689CD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208" y="100584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Artificial Intelligence &amp; Deep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3E7C0-D6F6-6F50-9DD6-04FCFC42A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2" y="602356"/>
            <a:ext cx="5297391" cy="525467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E9477-A47C-DB30-9ECE-BA448078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1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287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60236-8C60-545F-DD8F-8399F06E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Artificial Intelligence &amp; 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C5727-8184-BAD8-0C16-4E721323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BEA45-F45D-D956-D333-E2116AEAC6CC}"/>
              </a:ext>
            </a:extLst>
          </p:cNvPr>
          <p:cNvSpPr txBox="1"/>
          <p:nvPr/>
        </p:nvSpPr>
        <p:spPr>
          <a:xfrm>
            <a:off x="521208" y="782990"/>
            <a:ext cx="4893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Waldiez</a:t>
            </a:r>
            <a:r>
              <a:rPr lang="en-GB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flow image with description – Agent’s specific missions</a:t>
            </a:r>
          </a:p>
        </p:txBody>
      </p:sp>
    </p:spTree>
    <p:extLst>
      <p:ext uri="{BB962C8B-B14F-4D97-AF65-F5344CB8AC3E}">
        <p14:creationId xmlns:p14="http://schemas.microsoft.com/office/powerpoint/2010/main" val="308818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60236-8C60-545F-DD8F-8399F06E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Artificial Intelligence &amp; 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C5727-8184-BAD8-0C16-4E721323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BEA45-F45D-D956-D333-E2116AEAC6CC}"/>
              </a:ext>
            </a:extLst>
          </p:cNvPr>
          <p:cNvSpPr txBox="1"/>
          <p:nvPr/>
        </p:nvSpPr>
        <p:spPr>
          <a:xfrm>
            <a:off x="521208" y="782989"/>
            <a:ext cx="3143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that were created and finally used</a:t>
            </a:r>
          </a:p>
        </p:txBody>
      </p:sp>
    </p:spTree>
    <p:extLst>
      <p:ext uri="{BB962C8B-B14F-4D97-AF65-F5344CB8AC3E}">
        <p14:creationId xmlns:p14="http://schemas.microsoft.com/office/powerpoint/2010/main" val="195040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60236-8C60-545F-DD8F-8399F06E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Artificial Intelligence &amp; 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C5727-8184-BAD8-0C16-4E721323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EECBA3-3ACC-7A16-8B17-220BD0EE0F52}"/>
              </a:ext>
            </a:extLst>
          </p:cNvPr>
          <p:cNvSpPr txBox="1"/>
          <p:nvPr/>
        </p:nvSpPr>
        <p:spPr>
          <a:xfrm>
            <a:off x="517869" y="702532"/>
            <a:ext cx="9856297" cy="1651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 and Analysis of the cases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executed each case 10 times and stored the best result. 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better analyze the results (with what the Agents struggle and why) I stored the questions that consistently failed across all the runs of each case. 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general, these apply to all cases:</a:t>
            </a:r>
          </a:p>
          <a:p>
            <a:pPr marL="285750" indent="-28575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re-evaluation from the Auditor was weak and, in most cases, just repeated the answer from the Detective.</a:t>
            </a:r>
          </a:p>
          <a:p>
            <a:pPr marL="285750" indent="-28575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agents struggle with clues that include “if and only if” and “OR” cases. They couldn’t follow both paths and eliminate one of these.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03D126-C6BF-3A4B-11F9-FD11AAF36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800885"/>
              </p:ext>
            </p:extLst>
          </p:nvPr>
        </p:nvGraphicFramePr>
        <p:xfrm>
          <a:off x="517869" y="2766290"/>
          <a:ext cx="6823647" cy="314954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725195">
                  <a:extLst>
                    <a:ext uri="{9D8B030D-6E8A-4147-A177-3AD203B41FA5}">
                      <a16:colId xmlns:a16="http://schemas.microsoft.com/office/drawing/2014/main" val="1316152081"/>
                    </a:ext>
                  </a:extLst>
                </a:gridCol>
                <a:gridCol w="979987">
                  <a:extLst>
                    <a:ext uri="{9D8B030D-6E8A-4147-A177-3AD203B41FA5}">
                      <a16:colId xmlns:a16="http://schemas.microsoft.com/office/drawing/2014/main" val="3618398892"/>
                    </a:ext>
                  </a:extLst>
                </a:gridCol>
                <a:gridCol w="1902682">
                  <a:extLst>
                    <a:ext uri="{9D8B030D-6E8A-4147-A177-3AD203B41FA5}">
                      <a16:colId xmlns:a16="http://schemas.microsoft.com/office/drawing/2014/main" val="1616466519"/>
                    </a:ext>
                  </a:extLst>
                </a:gridCol>
                <a:gridCol w="1307755">
                  <a:extLst>
                    <a:ext uri="{9D8B030D-6E8A-4147-A177-3AD203B41FA5}">
                      <a16:colId xmlns:a16="http://schemas.microsoft.com/office/drawing/2014/main" val="2215951166"/>
                    </a:ext>
                  </a:extLst>
                </a:gridCol>
                <a:gridCol w="936698">
                  <a:extLst>
                    <a:ext uri="{9D8B030D-6E8A-4147-A177-3AD203B41FA5}">
                      <a16:colId xmlns:a16="http://schemas.microsoft.com/office/drawing/2014/main" val="438501288"/>
                    </a:ext>
                  </a:extLst>
                </a:gridCol>
                <a:gridCol w="971330">
                  <a:extLst>
                    <a:ext uri="{9D8B030D-6E8A-4147-A177-3AD203B41FA5}">
                      <a16:colId xmlns:a16="http://schemas.microsoft.com/office/drawing/2014/main" val="665547925"/>
                    </a:ext>
                  </a:extLst>
                </a:gridCol>
              </a:tblGrid>
              <a:tr h="241259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case_id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best_score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best_accuracy_percent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persistent_fails</a:t>
                      </a:r>
                      <a:endParaRPr lang="en-US" sz="13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min_score</a:t>
                      </a:r>
                      <a:endParaRPr lang="en-US" sz="13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max_score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64253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1052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3/7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42,86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C, D, E</a:t>
                      </a:r>
                      <a:endParaRPr lang="en-US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03019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1182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3/6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50,00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A, D</a:t>
                      </a:r>
                      <a:endParaRPr lang="en-US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579755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1230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3/8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37,50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A, D, E, F</a:t>
                      </a:r>
                      <a:endParaRPr lang="en-US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826997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2145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4/8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50,00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C, D, E, F</a:t>
                      </a:r>
                      <a:endParaRPr lang="en-US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350511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2176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2/6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33,33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A, C, D</a:t>
                      </a:r>
                      <a:endParaRPr lang="en-US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500328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2279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3/7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42,86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B, D</a:t>
                      </a:r>
                      <a:endParaRPr lang="en-US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36657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2372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3/8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37,50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C, F, H</a:t>
                      </a:r>
                      <a:endParaRPr lang="en-US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203441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2680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3/7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42,86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None</a:t>
                      </a:r>
                      <a:endParaRPr lang="en-US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793700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2799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4/6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66,67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None</a:t>
                      </a:r>
                      <a:endParaRPr lang="en-US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85470"/>
                  </a:ext>
                </a:extLst>
              </a:tr>
              <a:tr h="20761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2973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4/8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50,00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C, F</a:t>
                      </a:r>
                      <a:endParaRPr lang="en-US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l-GR" sz="10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0081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6854D2-2D45-0364-9254-68B7ECC76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092848"/>
              </p:ext>
            </p:extLst>
          </p:nvPr>
        </p:nvGraphicFramePr>
        <p:xfrm>
          <a:off x="7879117" y="2766290"/>
          <a:ext cx="2576990" cy="192867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175807">
                  <a:extLst>
                    <a:ext uri="{9D8B030D-6E8A-4147-A177-3AD203B41FA5}">
                      <a16:colId xmlns:a16="http://schemas.microsoft.com/office/drawing/2014/main" val="1316152081"/>
                    </a:ext>
                  </a:extLst>
                </a:gridCol>
                <a:gridCol w="1401183">
                  <a:extLst>
                    <a:ext uri="{9D8B030D-6E8A-4147-A177-3AD203B41FA5}">
                      <a16:colId xmlns:a16="http://schemas.microsoft.com/office/drawing/2014/main" val="2215951166"/>
                    </a:ext>
                  </a:extLst>
                </a:gridCol>
              </a:tblGrid>
              <a:tr h="363853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Question</a:t>
                      </a:r>
                      <a:endParaRPr lang="en-US" sz="13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Correct Results</a:t>
                      </a:r>
                    </a:p>
                  </a:txBody>
                  <a:tcPr marL="53433" marR="6361" marT="15267" marB="11449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64253"/>
                  </a:ext>
                </a:extLst>
              </a:tr>
              <a:tr h="3129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 (SUSPECT)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7/10</a:t>
                      </a: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03019"/>
                  </a:ext>
                </a:extLst>
              </a:tr>
              <a:tr h="3129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 (WEAPON)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5/6</a:t>
                      </a: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579755"/>
                  </a:ext>
                </a:extLst>
              </a:tr>
              <a:tr h="3129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 (MURDER ROOM)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6/10</a:t>
                      </a: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826997"/>
                  </a:ext>
                </a:extLst>
              </a:tr>
              <a:tr h="3129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 (TIME)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4/7</a:t>
                      </a: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350511"/>
                  </a:ext>
                </a:extLst>
              </a:tr>
              <a:tr h="3129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E (MOTIVE)</a:t>
                      </a:r>
                      <a:endParaRPr lang="el-GR" sz="1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433" marR="6361" marT="15267" marB="114499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4/10</a:t>
                      </a:r>
                    </a:p>
                  </a:txBody>
                  <a:tcPr marL="53433" marR="6361" marT="15267" marB="11449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50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99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60236-8C60-545F-DD8F-8399F06E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Artificial Intelligence &amp; 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C5727-8184-BAD8-0C16-4E721323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BEA45-F45D-D956-D333-E2116AEAC6CC}"/>
              </a:ext>
            </a:extLst>
          </p:cNvPr>
          <p:cNvSpPr txBox="1"/>
          <p:nvPr/>
        </p:nvSpPr>
        <p:spPr>
          <a:xfrm>
            <a:off x="521208" y="750098"/>
            <a:ext cx="22267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GB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hat I tried to mitigate</a:t>
            </a:r>
          </a:p>
          <a:p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GB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hat worked and what not</a:t>
            </a:r>
          </a:p>
        </p:txBody>
      </p:sp>
    </p:spTree>
    <p:extLst>
      <p:ext uri="{BB962C8B-B14F-4D97-AF65-F5344CB8AC3E}">
        <p14:creationId xmlns:p14="http://schemas.microsoft.com/office/powerpoint/2010/main" val="243220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EA79FB38-D1A1-3371-BAAE-40F23CCED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4217" y="2652107"/>
            <a:ext cx="1553785" cy="15537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8BE34-BAEA-3750-2F00-C60ADE403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6221" y="1707701"/>
            <a:ext cx="1169779" cy="5328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 &amp; A</a:t>
            </a:r>
            <a:endParaRPr lang="el-GR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4331BF-C6FE-7A77-F0A5-1DBF573812F7}"/>
              </a:ext>
            </a:extLst>
          </p:cNvPr>
          <p:cNvSpPr txBox="1"/>
          <p:nvPr/>
        </p:nvSpPr>
        <p:spPr>
          <a:xfrm>
            <a:off x="4438650" y="1029199"/>
            <a:ext cx="2374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l-GR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AA722-7468-8563-65BE-6248FE0A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Artificial Intelligence &amp; Deep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42705-6282-39A6-2FC8-DC4819E7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55764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4705</TotalTime>
  <Words>336</Words>
  <Application>Microsoft Office PowerPoint</Application>
  <PresentationFormat>Widescreen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Bierstadt</vt:lpstr>
      <vt:lpstr>Calibri</vt:lpstr>
      <vt:lpstr>GestaltVTI</vt:lpstr>
      <vt:lpstr>Thodoris Charos mscaidl-0077  AIDL_B_02 – Advanced Topics in Deep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OTE-COSMOTE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CNN1  </dc:title>
  <dc:creator>Charos Thodoris</dc:creator>
  <cp:lastModifiedBy>Charos Thodoris</cp:lastModifiedBy>
  <cp:revision>217</cp:revision>
  <cp:lastPrinted>2026-01-14T09:55:15Z</cp:lastPrinted>
  <dcterms:created xsi:type="dcterms:W3CDTF">2025-07-28T06:24:18Z</dcterms:created>
  <dcterms:modified xsi:type="dcterms:W3CDTF">2026-02-25T12:47:27Z</dcterms:modified>
</cp:coreProperties>
</file>